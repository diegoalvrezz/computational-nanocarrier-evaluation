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5" r:id="rId4"/>
    <p:sldId id="259" r:id="rId5"/>
    <p:sldId id="286" r:id="rId6"/>
    <p:sldId id="287" r:id="rId7"/>
    <p:sldId id="260" r:id="rId8"/>
    <p:sldId id="28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4" r:id="rId18"/>
    <p:sldId id="270" r:id="rId19"/>
    <p:sldId id="289" r:id="rId20"/>
    <p:sldId id="272" r:id="rId21"/>
    <p:sldId id="261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68"/>
    <p:restoredTop sz="94610"/>
  </p:normalViewPr>
  <p:slideViewPr>
    <p:cSldViewPr snapToGrid="0" snapToObjects="1">
      <p:cViewPr>
        <p:scale>
          <a:sx n="86" d="100"/>
          <a:sy n="86" d="100"/>
        </p:scale>
        <p:origin x="182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71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61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 · INGENIERÍA BIOMÉDICA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computacional de nanopartículas y dendrímeros como sistemas de liberación de fármacos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 molecular con proteínas de barrera biológica y modelos predictivos de eficiencia de transporte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92640" y="1188720"/>
            <a:ext cx="2011680" cy="2011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691640"/>
            <a:ext cx="1005840" cy="10058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212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Vallina Álvarez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Burgos · Curso 2025–2026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Directores: Santiago Aparicio Martínez · Pedro Ángel Marcos Villa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Llegar al tejido diana no depende solo del nanocarrier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proteínas determinan qué le pasa a cualquier molécula que entra en el organismo: deciden si un fármaco se expulsa, se metaboliza, llega al tumor o circula en sangre.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62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P-gp / MDR1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Bombea fármacos fuera de la célula → resistencia a quimioterapia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697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862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32918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Metaboliza &gt; 50% de los fármacos clínicos en el hígado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697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2862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32918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Sobreexpresado en tumores → puerta de entrada activa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212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de folato sobreexpresado en tumores de ovario/mama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4617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Lisozima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5212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compatibilidad tisular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4617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6760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5212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 fármacos en sangre, determina su circulación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computacional automatizada para cribar candidatos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moléculas evaluadas: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monómeros, oligómeros,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fármacos y ligandos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10128" y="196596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47288" y="30632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barrera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biológica clave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0176" y="196596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17336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17336" y="30632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dockings moleculares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50224" y="196596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87384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787384" y="30632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 moleculares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molécula (2D, 3D,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fingerprints, σ-perfiles)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0B3A5A"/>
          </a:solidFill>
          <a:ln w="1270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773168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Objetivos: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geometrías precisas (DFT) y evaluar interacciones (docking + PLIP);  calcular 2908 descriptores moleculares y entrenar modelos predictivos de afinidad;  </a:t>
            </a:r>
            <a:r>
              <a:rPr lang="en-US" sz="13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— con apoyo de IA — una batería de scripts que automatice el flujo completo (preparación → cálculo → análisis → visualización), concatenando eficientemente un proceso que manualmente requeriría días;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implementar una herramienta web de recomendación de carrier.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3*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integrado: de la estructura cuántica a la recomendación de carrier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Geometrías DFT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B3LYP-D4 / def2-TZVP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perfiles σ COSMO-RS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clúster HPC (CENITS)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97480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98648" y="196596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1528" y="2194560"/>
            <a:ext cx="502920" cy="50292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81528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molecular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81528" y="3474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AutoDock Vina 1.2.5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dockings frente a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proteínas de barrera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5604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57216" y="196596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0096" y="2194560"/>
            <a:ext cx="502920" cy="50292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18" name="Text 16"/>
          <p:cNvSpPr/>
          <p:nvPr/>
        </p:nvSpPr>
        <p:spPr>
          <a:xfrm>
            <a:off x="534009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0096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PLIP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40096" y="3474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708 contactos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covalentes en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complejos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1461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15784" y="196596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98664" y="2194560"/>
            <a:ext cx="502920" cy="50292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24" name="Text 22"/>
          <p:cNvSpPr/>
          <p:nvPr/>
        </p:nvSpPr>
        <p:spPr>
          <a:xfrm>
            <a:off x="759866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98664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 + ML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98664" y="3474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2908 descriptores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SHAP,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ITI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7318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74352" y="196596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57232" y="2194560"/>
            <a:ext cx="502920" cy="50292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30" name="Text 28"/>
          <p:cNvSpPr/>
          <p:nvPr/>
        </p:nvSpPr>
        <p:spPr>
          <a:xfrm>
            <a:off x="985723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57232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web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57232" y="3474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→ predicción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recomendación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FA5785-3771-B7C3-B2FF-13F0B8B42967}"/>
              </a:ext>
            </a:extLst>
          </p:cNvPr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SMILES AL ACOPLAMIENTO MOLECULAR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F0CC8A-6197-DB5C-3250-15442C6B312A}"/>
              </a:ext>
            </a:extLst>
          </p:cNvPr>
          <p:cNvSpPr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Triethylene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glycol (PEG)  ×  P-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glicoproteína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(7A65)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1C0B4D-1047-86FB-FC28-B23303E2D14E}"/>
              </a:ext>
            </a:extLst>
          </p:cNvPr>
          <p:cNvSpPr/>
          <p:nvPr/>
        </p:nvSpPr>
        <p:spPr>
          <a:xfrm>
            <a:off x="566928" y="1591056"/>
            <a:ext cx="11027664" cy="4325922"/>
          </a:xfrm>
          <a:prstGeom prst="roundRect">
            <a:avLst>
              <a:gd name="adj" fmla="val 148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img/docking_peg_pgp.png">
            <a:extLst>
              <a:ext uri="{FF2B5EF4-FFF2-40B4-BE49-F238E27FC236}">
                <a16:creationId xmlns:a16="http://schemas.microsoft.com/office/drawing/2014/main" id="{46A2E3EA-FB73-0F41-33A1-8001B8AF7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10881360" cy="417961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2D1F867-579A-1FCE-0ABB-DD1D3AF96EA4}"/>
              </a:ext>
            </a:extLst>
          </p:cNvPr>
          <p:cNvSpPr/>
          <p:nvPr/>
        </p:nvSpPr>
        <p:spPr>
          <a:xfrm>
            <a:off x="640080" y="604499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Ligando: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Triethylene glycol (ITI = 100, mejor candidato del estudio).  </a:t>
            </a: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= −4,73 kcal/mol frente a P-gp  ·  contactos hidrofóbicos con ILE730, LEU312, LEU757 y LEU760, confirmando el reconocimiento por tamaño/complejidad molecular (SHAP: BertzCT).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020ACB2-D0AD-A6FC-7FA9-D4AF4F0EB17A}"/>
              </a:ext>
            </a:extLst>
          </p:cNvPr>
          <p:cNvSpPr/>
          <p:nvPr/>
        </p:nvSpPr>
        <p:spPr>
          <a:xfrm>
            <a:off x="1136599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6905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67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3753684-F096-0A8F-4F12-A4DC2D199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3" y="643467"/>
            <a:ext cx="1087037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87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DOCKING MOLECULAR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matriz de afinidad separa fármacos, oligómeros y ligandos de targeting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Energías medias por proteína (ΔG, kcal/mol):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FRα: −5,70   ·   CYP3A4: −5,21   ·   TfR1: −5,08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P-gp: −5,07   ·   HSA: −4,31   ·   Lisozima: −3,54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603504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moléculas más grandes → mayor afinidad a todas las proteínas, por la existencia de más sitios de interacción. Methotrexate (P-gp), Paclitaxel (CYP3A4) y Folic acid (FRα) presentan las afinidades más altas (≈ −10 kcal/mol).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868680"/>
            <a:ext cx="5212080" cy="4228059"/>
          </a:xfrm>
          <a:prstGeom prst="roundRect">
            <a:avLst>
              <a:gd name="adj" fmla="val 129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img/heatmap_do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60120"/>
            <a:ext cx="5029200" cy="404517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5142459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siguiente diapositiva para la versión ampliada de la matriz completa →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DOCKING MOLECULAR — ENERGÍAS Y HALLAZGO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afinidad completa y principales resultados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458968" cy="4412327"/>
          </a:xfrm>
          <a:prstGeom prst="roundRect">
            <a:avLst>
              <a:gd name="adj" fmla="val 12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img/heatmap_do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19072"/>
            <a:ext cx="5349240" cy="43025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664208"/>
            <a:ext cx="5166360" cy="3154680"/>
          </a:xfrm>
          <a:prstGeom prst="roundRect">
            <a:avLst>
              <a:gd name="adj" fmla="val 2319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29400" y="18013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Energías medias por proteína (ΔG, kcal/mol)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10528" y="2231136"/>
            <a:ext cx="4919472" cy="393192"/>
          </a:xfrm>
          <a:prstGeom prst="roundRect">
            <a:avLst>
              <a:gd name="adj" fmla="val 9302"/>
            </a:avLst>
          </a:prstGeom>
          <a:solidFill>
            <a:srgbClr val="0B3A5A"/>
          </a:solidFill>
          <a:ln/>
        </p:spPr>
      </p:sp>
      <p:sp>
        <p:nvSpPr>
          <p:cNvPr id="9" name="Text 6"/>
          <p:cNvSpPr/>
          <p:nvPr/>
        </p:nvSpPr>
        <p:spPr>
          <a:xfrm>
            <a:off x="6656832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FRα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−5,70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56832" y="27066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69680" y="27066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−5,21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10528" y="3072384"/>
            <a:ext cx="4919472" cy="393192"/>
          </a:xfrm>
          <a:prstGeom prst="roundRect">
            <a:avLst>
              <a:gd name="adj" fmla="val 9302"/>
            </a:avLst>
          </a:prstGeom>
          <a:solidFill>
            <a:srgbClr val="0B3A5A"/>
          </a:solidFill>
          <a:ln/>
        </p:spPr>
      </p:sp>
      <p:sp>
        <p:nvSpPr>
          <p:cNvPr id="14" name="Text 11"/>
          <p:cNvSpPr/>
          <p:nvPr/>
        </p:nvSpPr>
        <p:spPr>
          <a:xfrm>
            <a:off x="6656832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69680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−5,08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56832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P-gp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69680" y="3547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−5,07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10528" y="3913632"/>
            <a:ext cx="4919472" cy="393192"/>
          </a:xfrm>
          <a:prstGeom prst="roundRect">
            <a:avLst>
              <a:gd name="adj" fmla="val 9302"/>
            </a:avLst>
          </a:prstGeom>
          <a:solidFill>
            <a:srgbClr val="0B3A5A"/>
          </a:solidFill>
          <a:ln/>
        </p:spPr>
      </p:sp>
      <p:sp>
        <p:nvSpPr>
          <p:cNvPr id="19" name="Text 16"/>
          <p:cNvSpPr/>
          <p:nvPr/>
        </p:nvSpPr>
        <p:spPr>
          <a:xfrm>
            <a:off x="6656832" y="3968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869680" y="3968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−4,31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56832" y="4389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Lisozima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869680" y="4389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−3,54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0" y="4983480"/>
            <a:ext cx="5166360" cy="1664208"/>
          </a:xfrm>
          <a:prstGeom prst="roundRect">
            <a:avLst>
              <a:gd name="adj" fmla="val 4396"/>
            </a:avLst>
          </a:prstGeom>
          <a:solidFill>
            <a:srgbClr val="0B3A5A"/>
          </a:solidFill>
          <a:ln w="1270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656832" y="5120640"/>
            <a:ext cx="4681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Moléculas más grandes → mayor afinidad en todas las proteínas. Valores extremos: Methotrexate en P-gp (−10,27), Paclitaxel en CYP3A4 (−9,91) y Folic acid en FRα (−9,91). Sirolimus en CYP3A4 (−0,15): la interacción más débil del dataset.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36599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6*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MODELOS PREDICTIVOS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predice la afinidad de unión sin necesidad de nuevo docking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996333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mg/r2_por_prote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7813453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6840" y="178308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s-ES" sz="1200" b="1" dirty="0" err="1"/>
              <a:t>SelectKBest</a:t>
            </a:r>
            <a:r>
              <a:rPr lang="es-ES" sz="1200" b="1" dirty="0"/>
              <a:t> + </a:t>
            </a:r>
            <a:r>
              <a:rPr lang="es-ES" sz="1200" b="1" dirty="0" err="1"/>
              <a:t>RobustScaler</a:t>
            </a:r>
            <a:endParaRPr lang="es-ES" sz="1200" b="1" dirty="0"/>
          </a:p>
        </p:txBody>
      </p:sp>
      <p:sp>
        <p:nvSpPr>
          <p:cNvPr id="7" name="Text 4"/>
          <p:cNvSpPr/>
          <p:nvPr/>
        </p:nvSpPr>
        <p:spPr>
          <a:xfrm>
            <a:off x="9235440" y="1965960"/>
            <a:ext cx="2057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0,7 en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P-gp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0,817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0,426 kcal/mol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TfR1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0,753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Lisozima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0,712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CYP3A4, FRα y HSA: rendimiento más modesto (R² 0,53–0,65), esperable con 56 muestras y 5-fold CV (11 moléculas/fold). Ver ampliación de la matriz "Predicción vs. Real" en la siguiente diapositiva.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MODELOS PREDICTIVOS — AMPLIACIÓN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402913" y="1554480"/>
            <a:ext cx="9383127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mg/predicted_v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633" y="1600200"/>
            <a:ext cx="9291687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2636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vs. real para P-gp MDR1 (R² = 0,817) y TfR1 (R² = 0,753), coloreado por grupo molecular. La banda gris marca ±1 kcal/mol respecto a la diagonal y=x.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vs. real (Random Forest)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INTERPRETABILIDAD (SHAP)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P-gp expulsa moléculas por su complejidad, no por su química concreta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BertzCT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topológica de la molécula — peso SHAP de 0,54, muy por encima de NumBonds (0,16) y MW (0,14)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favorable / desfavorable: 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0,983   ·   Accuracy = 0,965   ·   F1 = 0,966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AUC cercano a 1 implica que el espacio de descriptores separa casi perfectamente las moléculas favorables de las desfavorables para drug delivery. Ampliación de ambos gráficos en las dos siguientes diapositivas.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874000"/>
            <a:ext cx="5303520" cy="4094564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0" descr="img/shap_import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65440"/>
            <a:ext cx="5120640" cy="39116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INTERPRETABILIDAD (SHAP) — AMPLIACIÓN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10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818279"/>
            <a:ext cx="5385816" cy="4135842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img/shap_import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63999"/>
            <a:ext cx="5294376" cy="4044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241" y="1554480"/>
            <a:ext cx="5368885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1" descr="img/curva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961" y="1600200"/>
            <a:ext cx="5277445" cy="4572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2636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importancia de los 15 descriptores principales según SHAP para el modelo de P-gp MDR1. Derecha: curvas ROC del clasificador favorable/desfavorable en validación cruzada de 5 particiones.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y curva ROC del clasificador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ÍNDICE DE EFICIENCIA DE TRANSPORTE (ITI)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Triethylene glycol (PEG) y ramas PAMAM de baja generación lideran el ranking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583680" cy="4344875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mg/iti_top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6400800" cy="41619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691640"/>
            <a:ext cx="4069080" cy="512064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1874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ITI combina las 6 afinidades en un único índice 0–100: premia TfR1, FRα, HSA y lisozima; penaliza P-gp y CYP3A4.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2668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Triethylene glycol (PEG)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378440" y="2880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410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Tetraethylenepentamine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378440" y="34107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39410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Pentaethylenehexamine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378440" y="39410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26680" y="44714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Chitotriose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378440" y="44714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84,7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26680" y="5001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Chitobiose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378440" y="50017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82,7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26680" y="56692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son componentes habituales en formulaciones clínicas de nanopartículas (PEG, PAMAM, quitosano). Ampliación y perfiles radar en la siguiente diapositiva.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ÍNDICE ITI — AMPLIACIÓN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2119198"/>
            <a:ext cx="5385816" cy="3534004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mg/iti_top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64918"/>
            <a:ext cx="5294376" cy="34425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08776" y="2722205"/>
            <a:ext cx="5385816" cy="2327989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img/distribucion_ITI_gru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767925"/>
            <a:ext cx="5294376" cy="2236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2636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top 20 moléculas por ITI. Derecha: distribución del ITI por grupo molecular (boxplot + violin plot). Ligandos de targeting y oligómeros: medianas ~70-72; monómeros de degradación ~60; fármacos modelo ~42.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ITI y distribución por grupos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VALIDACIÓN ESTRUCTURAL (PLIP)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poses de docking coinciden con datos cristalográficos publicados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9223035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img/plip_interacciones_p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904015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69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708 contactos no covalentes en 15 complejos.  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FRα, SER174 y ARG103 —los residuos que predice el modelo— son exactamente los que la cristalografía identifica como esenciales para reconocer el ácido fólico.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VALIDACIÓN PLIP — AMPLIACIÓN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10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2086916"/>
            <a:ext cx="5385816" cy="35985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img/plip_barplot_interac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2636"/>
            <a:ext cx="5294376" cy="3507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08776" y="2790044"/>
            <a:ext cx="5385816" cy="2192312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1" descr="img/plip_top_residu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835764"/>
            <a:ext cx="5294376" cy="2100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2636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número de interacciones por tipo y proteína. Derecha: residuos con más contactos en FRα (4LRH) — SER174 y ARG103 coinciden con los residuos descritos por la cristalografía para el reconocimiento del ácido fólico.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interacciones PLIP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VALIDACIÓN PLIP — AMPLIACIÓN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10172A"/>
          </a:solidFill>
          <a:ln/>
        </p:spPr>
      </p:sp>
      <p:pic>
        <p:nvPicPr>
          <p:cNvPr id="8" name="Image 1" descr="img/plip_top_residu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44" y="1691640"/>
            <a:ext cx="9533406" cy="37829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2636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número de interacciones por tipo y proteína. Derecha: residuos con más contactos en FRα (4LRH) — SER174 y ARG103 coinciden con los residuos descritos por la cristalografía para el reconocimiento del ácido fólico.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interacciones PLIP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33396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LÍNEAS FUTURAS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sólidos, con margen claro de mejora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8163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974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56–58 moléculas: cada fold de validación cruzada tiene solo 11 muestras.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59359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74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validación experimental — los resultados son íntegramente computacionales.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37083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519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del ITI se definieron con criterio experto, no ajustados empíricamente.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523951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0292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moderado (R² 0,5–0,65) en CYP3A4, FRα y HSA.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148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FUTURAS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2816352"/>
            <a:ext cx="109728" cy="10972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697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200–500 moléculas, incluyendo PAMAM G3-G5, y explorar GNNs.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3566160"/>
            <a:ext cx="109728" cy="10972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4472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experimental: ensayos de inhibición de P-gp y biodistribución in vivo.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4315968"/>
            <a:ext cx="109728" cy="10972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1970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los pesos del ITI con datos reales de biodistribución.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5065776"/>
            <a:ext cx="109728" cy="10972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9469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FEP o MM-GBSA a los candidatos top para mayor precisión energética.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5815584"/>
            <a:ext cx="109728" cy="10972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56967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Streamlit: dibujo de estructuras, informes PDF, conexión con PubChem/ChEMBL.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completa, automatizada y reproducible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11480" cy="41148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geometrías DFT optimizadas (B3LYP-D4/def2-TZVP), todas mínimos de energía reales, incluidos casos especiales (cisplatino, condroitín sulfato).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57400"/>
            <a:ext cx="411480" cy="41148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196596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dockings validados por PLIP frente a datos cristalográficos. Random Forest: R² &gt; 0,7 en P-gp (0,817), TfR1 (0,753) y Lisozima (0,712).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472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75888"/>
            <a:ext cx="411480" cy="41148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584448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BertzCT domina el análisis SHAP (peso 0,54): P-gp reconoce sustratos por complejidad/tamaño. El ITI identifica PEG, PAMAM y quitosano como mejores candidatos.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4472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675888"/>
            <a:ext cx="411480" cy="41148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3584448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ADMET cuantifica el problema: 80% de los fármacos modelo son sustrato de P-gp frente al 0% de los monómeros. Clasificador binario: AUC-ROC = 0,983.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6577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7F4"/>
          </a:solidFill>
          <a:ln w="12700">
            <a:solidFill>
              <a:srgbClr val="0B6E6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294376"/>
            <a:ext cx="411480" cy="41148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94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202936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de scripts (desarrollados con apoyo de IA) que automatiza el flujo completo DFT → docking → PLIP → descriptores → ML, concatenando eficientemente un proceso que manualmente exigiría días.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51572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506577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7F4"/>
          </a:solidFill>
          <a:ln w="12700">
            <a:solidFill>
              <a:srgbClr val="0B6E6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5294376"/>
            <a:ext cx="411480" cy="41148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5294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40880" y="5202936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Streamlit: SMILES → descriptores 2D → predicción ΔG (6 proteínas) → ITI → radar → recomendación de carrier. Filtro rápido para etapas tempranas del diseño de nanocarriers.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01400" y="51572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16*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teoría a la práctica: la herramienta Streamlit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el SMILES de cualquier molécula → descriptores 2D → predicción de ΔG frente a las 6 proteínas → ITI → diagrama radar → recomendación de carrier.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53212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img/streamlit_inic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660" y="2857500"/>
            <a:ext cx="53949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55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inicio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2788920"/>
            <a:ext cx="553212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img/streamlit_analisi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9380" y="2857500"/>
            <a:ext cx="5394960" cy="3383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6355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radar de afinidad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AGRADECIMIENTOS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a quienes hicieron posible este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53312"/>
          </a:xfrm>
          <a:prstGeom prst="roundRect">
            <a:avLst>
              <a:gd name="adj" fmla="val 6757"/>
            </a:avLst>
          </a:prstGeom>
          <a:solidFill>
            <a:srgbClr val="0B3A5A"/>
          </a:solidFill>
          <a:ln w="1143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299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4323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Extremeño de Investigación, Innovación Tecnológica y Supercomputación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2011680"/>
            <a:ext cx="6492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acceso al clúster HPC y el tiempo de cómputo asignado. Los 58 cálculos DFT de alta precisión (B3LYP-D4/def2-TZVP) no habrían sido posibles sin los recursos computacionales de CENITS y el soporte técnico de su equipo.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881360" cy="1353312"/>
          </a:xfrm>
          <a:prstGeom prst="roundRect">
            <a:avLst>
              <a:gd name="adj" fmla="val 6757"/>
            </a:avLst>
          </a:prstGeom>
          <a:solidFill>
            <a:srgbClr val="1A200A"/>
          </a:solidFill>
          <a:ln w="11430">
            <a:solidFill>
              <a:srgbClr val="F2C94C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474720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844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 del TFM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9867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Aparicio Martínez · Pedro Ángel Marcos Villa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6492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orientación científica, la supervisión de la metodología computacional y la confianza depositada para abordar una plataforma de esta envergadura.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81360" cy="1353312"/>
          </a:xfrm>
          <a:prstGeom prst="roundRect">
            <a:avLst>
              <a:gd name="adj" fmla="val 6757"/>
            </a:avLst>
          </a:prstGeom>
          <a:solidFill>
            <a:srgbClr val="1B2A4A"/>
          </a:solidFill>
          <a:ln w="1143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5029200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389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Burgos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55412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Universitario en Ingeniería Biomédica · Curso 2025–2026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5120640"/>
            <a:ext cx="6492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formación recibida y los recursos puestos a disposición durante el desarrollo de este Trabajo Fin de Máster.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Evaluación computacional de nanopartículas poliméricas y dendrímeros · Diego Vallina Álvarez · Universidad de Burgos · 2025–2026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194560" cy="21945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463040"/>
            <a:ext cx="1097280" cy="109728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ampliada para preguntas del tribunal: detalle metodológico, tablas completas, figuras adicionales, infraestructura y alineación con los ODS.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 · PROTEÍNAS DE BARRERA BIOLÓGICA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del Protein Data Bank empleadas en el docking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463040" cy="475488"/>
          </a:xfrm>
          <a:prstGeom prst="rect">
            <a:avLst/>
          </a:prstGeom>
          <a:solidFill>
            <a:srgbClr val="0B6E66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783080"/>
            <a:ext cx="2011680" cy="475488"/>
          </a:xfrm>
          <a:prstGeom prst="rect">
            <a:avLst/>
          </a:prstGeom>
          <a:solidFill>
            <a:srgbClr val="0B6E66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783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5029200" cy="475488"/>
          </a:xfrm>
          <a:prstGeom prst="rect">
            <a:avLst/>
          </a:prstGeom>
          <a:solidFill>
            <a:srgbClr val="0B6E66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78308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1783080"/>
            <a:ext cx="2377440" cy="475488"/>
          </a:xfrm>
          <a:prstGeom prst="rect">
            <a:avLst/>
          </a:prstGeom>
          <a:solidFill>
            <a:srgbClr val="0B6E66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7830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grid (Å)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258568"/>
            <a:ext cx="146304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585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7A65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03120" y="2258568"/>
            <a:ext cx="201168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2585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P-gp / MDR1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0" y="2258568"/>
            <a:ext cx="502920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25856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de expulsión de fármacos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2258568"/>
            <a:ext cx="237744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2585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160, 177, 144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273405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7340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1TQN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03120" y="2734056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7340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0" y="2734056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73405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Metabolismo hepático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0" y="2734056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734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-15,5, -22,0, -11,0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3209544"/>
            <a:ext cx="146304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20954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1CX8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103120" y="3209544"/>
            <a:ext cx="201168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32095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TfR1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114800" y="3209544"/>
            <a:ext cx="502920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320954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en células por endocitosis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144000" y="3209544"/>
            <a:ext cx="237744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32095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-28,4, -38,9, 147,7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3685032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6850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4LRH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103120" y="368503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3685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FRα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114800" y="3685032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36850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Internalización del folato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144000" y="3685032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36850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5,2, 25,8, -1,4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4160520"/>
            <a:ext cx="146304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1605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1LYZ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103120" y="4160520"/>
            <a:ext cx="201168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4160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Lisozima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114800" y="4160520"/>
            <a:ext cx="502920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41605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biocompatibilidad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144000" y="4160520"/>
            <a:ext cx="2377440" cy="475488"/>
          </a:xfrm>
          <a:prstGeom prst="rect">
            <a:avLst/>
          </a:prstGeom>
          <a:solidFill>
            <a:srgbClr val="E9EEF9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4160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17,0, 10,0, 25,0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40080" y="4636008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636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1AO6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103120" y="463600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0" y="46360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114800" y="4636008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0" y="46360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en sangre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144000" y="463600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35440" y="46360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7,0, 10,0, 18,0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40080" y="5431536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del grid: 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cartesianas (x, y, z) en ångströms del punto central de la caja de búsqueda definida para el docking en cada proteína. Las proteínas se prepararon con MGLTools (hidrógenos + cargas atómicas Gasteiger) y los ligandos se convirtieron a formato PDBQT con OpenBabel.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B · CÁLCULOS DFT — PERFILES SIGMA COSMO-RS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81032"/>
            <a:ext cx="11000232" cy="4610337"/>
          </a:xfrm>
          <a:prstGeom prst="roundRect">
            <a:avLst>
              <a:gd name="adj" fmla="val 99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igma_profiles_contra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6752"/>
            <a:ext cx="10908792" cy="45188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2636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sigma COSMO-RS de la doxorrubicina (fármaco modelo) y el ácido láctico L (monómero de degradación). La distribución ancha y polar de la doxorrubicina contrasta con la concentración cerca de σ≈0 del ácido láctico.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Perfiles sigma: contraste entre grupos moleculares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B · CÁLCULOS DFT — DETALLE DEL MÉTODO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B3LYP-D4 / def2-TZVP en el clúster CENITS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TURBOMOLE 7.8.1, en el clúster HPC del Centro Extremeño de Investigación, Innovación Tecnológica y Supercomputación (CENITS) — 16 núcleos, 31 GB RAM por nodo.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cálculo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híbrido B3LYP con corrección de dispersión D4 (Grimme et al., 2010) y base de funciones def2-TZVP (Weigend &amp; Ahlrichs, 2005), con aproximación RI-J para reducir el coste computacional.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cálculos por molécula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Optimización de geometría hasta el mínimo de energía. (ii) Distribución de carga superficial (COSMO-RS) → perfil sigma. (iii) Frecuencias de vibración IR, para confirmar que la estructura corresponde a un mínimo real (sin frecuencias imaginarias).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2976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especiales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Cisplatino: pseudopotencial ECP-60-mwb de Stuttgart para el platino (def2-SVP para Pt, def2-TZVP para el resto). Condroitín sulfato disacárido: carga formal −2 especificada explícitamente.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C · DOCKING — CORRELACIÓN ENTRE PROTEÍNAS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2667663"/>
            <a:ext cx="5385816" cy="2437074"/>
          </a:xfrm>
          <a:prstGeom prst="roundRect">
            <a:avLst>
              <a:gd name="adj" fmla="val 18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mg/correlacion_protei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13383"/>
            <a:ext cx="5294376" cy="23456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08776" y="2213154"/>
            <a:ext cx="5385816" cy="3346092"/>
          </a:xfrm>
          <a:prstGeom prst="roundRect">
            <a:avLst>
              <a:gd name="adj" fmla="val 136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img/scatter_docking_M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258874"/>
            <a:ext cx="5294376" cy="32546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2636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mapa de correlación de Pearson entre energías de docking y dispersión TfR1 vs. P-gp (r = 0,95). Derecha: ΔG vs. peso molecular para las 6 proteínas — las moléculas más grandes presentan mayor afinidad en todas ellas.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Correlaciones entre proteínas y efecto del tamaño molecular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D · ÍNDICE ITI — PERFILES DE AFINIDAD (RADAR)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Diagramas radar — Top 8 candidatos por ITI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61040" y="1691640"/>
            <a:ext cx="8066871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img/radar_top8_part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60" y="1737360"/>
            <a:ext cx="7975431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61040" y="3931920"/>
            <a:ext cx="8066871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img/radar_top8_part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760" y="3977640"/>
            <a:ext cx="7975431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309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radio = mayor afinidad por esa proteína. Triethylene glycol (ITI=100): radio pequeño en P-gp/CYP3A4 y moderado en TfR1/FRα.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E · PROPIEDADES ADMET — DETALLE POR GRUPO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Absorción, distribución, metabolismo, excreción y toxicidad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237141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mg/admet_lipinski_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851660"/>
            <a:ext cx="5257800" cy="2234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783080"/>
            <a:ext cx="5394960" cy="2363845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img/admet_pgp_cy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1851660"/>
            <a:ext cx="5257800" cy="222668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434840"/>
            <a:ext cx="4115624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2" descr="img/admet_bioavail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503420"/>
            <a:ext cx="3978464" cy="237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0" y="44348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clave: 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monómeros de degradación cumplen Lipinski (0 violaciones) y no son sustrato de P-gp (0%); los fármacos modelo presentan 1,75 violaciones de media y el 80% son sustrato de P-gp. Los ligandos de targeting alcanzan la mejor biodisponibilidad oral (BA≈0,85, 87% absorción intestinal alta).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F · INFRAESTRUCTURA COMPUTACIONAL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y software empleados en 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HPC — CENITS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Extremeño de Investigación, Innovación Tecnológica y Supercomputación. 16 núcleos / 31 GB RAM por nodo. Acceso por SSH, gestión de colas con SLURM. Usado para cálculos DFT y docking masivo.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local — MacBook Air M1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RAM. Usado para preprocesado de moléculas (RDKit), análisis de datos, generación de figuras, entrenamiento de modelos de ML y desarrollo de la herramienta Streamlit.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cálculo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TURBOMOLE 7.8.1 (DFT), AutoDock Vina 1.2.5 (docking), PLIP 2025 (interacciones proteína-ligando), OpenBabel y MGLTools (preparación de estructuras).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2976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análisis y ML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y Mordred (descriptores moleculares), SwissADME (ADMET), scikit-learn (Random Forest, Gradient Boosting, SVR/SVC), SHAP (interpretabilidad), Streamlit (herramienta web).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G · HERRAMIENTA STREAMLIT — FUNCIONALIDADES ADICIONALES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Ranking, comparador, historial y visor 3D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mg/streamlit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0228"/>
            <a:ext cx="2514600" cy="1571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93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moléculas por ITI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474720" y="16916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img/streamlit_comparador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820228"/>
            <a:ext cx="2514600" cy="1571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3593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candidatos (1)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09360" y="16916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img/streamlit_comparador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20228"/>
            <a:ext cx="2514600" cy="1571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9360" y="3593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candidatos (2)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9144000" y="16916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mg/streamlit_histor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820228"/>
            <a:ext cx="2514600" cy="1571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0" y="3593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análisis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40080" y="4325112"/>
            <a:ext cx="2514600" cy="227076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4" descr="img/streamlit_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4393692"/>
            <a:ext cx="2377440" cy="2133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83280" y="4325112"/>
            <a:ext cx="7132320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molecular 3D integrado. 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incluye un visor interactivo que renderiza la estructura 3D de la molécula introducida, facilitando la inspección visual del candidato antes de generar la recomendación de carrier.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H · ALINEACIÓN CON LOS ODS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Desarrollo Sostenible de la Agenda 2030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4C9F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377440" y="21945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bienestar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contribuye directamente al desarrollo de tratamientos oncológicos más eficaces, mediante el diseño racional de sistemas de liberación de fármacos que: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Mejoran la precisión del transporte de fármacos a tejidos tumorales (TfR1, FRα).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Reducen la exposición a bombas de expulsión (P-gp), aumentando la eficacia terapéutica.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Disminuyen potencialmente los efectos secundarios sistémicos al mejorar la especificidad del transporte.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4884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FD692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01000" y="2194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Industria, innovación e infraestructura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61188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desarrollada es una herramienta de innovación científica reproducible: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 cálculo de alto rendimiento (HPC, CENITS), aprendizaje automático y herramientas open-source (RDKit, AutoDock Vina, PLIP, scikit-learn).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herramienta Streamlit democratiza el acceso a modelos predictivos avanzados, sin requerir conocimientos de programación.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 una metodología escalable y extensible a nuevas moléculas y proteínas diana.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2770</Words>
  <Application>Microsoft Macintosh PowerPoint</Application>
  <PresentationFormat>Panorámica</PresentationFormat>
  <Paragraphs>343</Paragraphs>
  <Slides>31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computacional de nanopartículas y dendrímeros como sistemas de liberación de fármacos</dc:title>
  <dc:subject>PptxGenJS Presentation</dc:subject>
  <dc:creator>Diego Vallina Álvarez</dc:creator>
  <cp:lastModifiedBy>Diego Vallina Álvarez</cp:lastModifiedBy>
  <cp:revision>3</cp:revision>
  <dcterms:created xsi:type="dcterms:W3CDTF">2026-06-15T14:50:52Z</dcterms:created>
  <dcterms:modified xsi:type="dcterms:W3CDTF">2026-06-16T16:36:53Z</dcterms:modified>
</cp:coreProperties>
</file>